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0" r:id="rId8"/>
    <p:sldId id="271" r:id="rId9"/>
    <p:sldId id="272" r:id="rId10"/>
    <p:sldId id="273" r:id="rId11"/>
    <p:sldId id="274" r:id="rId12"/>
    <p:sldId id="275"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4/28/2026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80597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500" dirty="0">
                <a:latin typeface="Times New Roman" panose="02020603050405020304" pitchFamily="18" charset="0"/>
                <a:ea typeface="Calibri" panose="020F0502020204030204" pitchFamily="34" charset="0"/>
                <a:cs typeface="Times New Roman" panose="02020603050405020304" pitchFamily="18" charset="0"/>
              </a:rPr>
              <a:t>AI-Based Fake News Detection System Using Machine Learning</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Sahil (2210992211)</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Sachin Kumar (2210992204)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a:t>
            </a:r>
            <a:r>
              <a:rPr lang="en-US" sz="2000" spc="-1" dirty="0">
                <a:solidFill>
                  <a:srgbClr val="000000"/>
                </a:solidFill>
                <a:latin typeface="Times New Roman" panose="02020603050405020304" pitchFamily="18" charset="0"/>
                <a:ea typeface="MS PGothic"/>
                <a:cs typeface="Times New Roman" panose="02020603050405020304" pitchFamily="18" charset="0"/>
              </a:rPr>
              <a:t>. Rajat </a:t>
            </a:r>
            <a:r>
              <a:rPr lang="en-US" sz="2000" spc="-1" dirty="0" err="1">
                <a:solidFill>
                  <a:srgbClr val="000000"/>
                </a:solidFill>
                <a:latin typeface="Times New Roman" panose="02020603050405020304" pitchFamily="18" charset="0"/>
                <a:ea typeface="MS PGothic"/>
                <a:cs typeface="Times New Roman" panose="02020603050405020304" pitchFamily="18" charset="0"/>
              </a:rPr>
              <a:t>Takkar</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4400" dirty="0">
                <a:latin typeface="Times New Roman" panose="02020603050405020304" pitchFamily="18" charset="0"/>
                <a:cs typeface="Times New Roman" panose="02020603050405020304" pitchFamily="18" charset="0"/>
              </a:rPr>
              <a:t>Introduction</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671939" y="1149071"/>
            <a:ext cx="7524818" cy="5281226"/>
          </a:xfrm>
          <a:prstGeom prst="rect">
            <a:avLst/>
          </a:prstGeom>
          <a:noFill/>
          <a:ln w="9360">
            <a:noFill/>
          </a:ln>
        </p:spPr>
        <p:txBody>
          <a:bodyPr>
            <a:noAutofit/>
          </a:bodyPr>
          <a:lstStyle/>
          <a:p>
            <a:pPr>
              <a:lnSpc>
                <a:spcPct val="150000"/>
              </a:lnSpc>
              <a:spcBef>
                <a:spcPts val="400"/>
              </a:spcBef>
            </a:pPr>
            <a:r>
              <a:rPr lang="en-US" sz="2500" spc="-1" dirty="0">
                <a:solidFill>
                  <a:srgbClr val="000000"/>
                </a:solidFill>
                <a:latin typeface="Times New Roman" panose="02020603050405020304" pitchFamily="18" charset="0"/>
                <a:cs typeface="Times New Roman" panose="02020603050405020304" pitchFamily="18" charset="0"/>
              </a:rPr>
              <a:t>The rapid growth of social media has significantly increased the spread of fake news. Information now travels faster than ever, making it difficult to control the authenticity of content. Manual verification methods are slow, inefficient, and unable to handle large volumes of data. Therefore, automated systems are essential to tackle this issue. Machine Learning (ML) plays a crucial role by detecting hidden patterns and analyzing textual data to identify fake news effectively.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7754-7449-D13F-ACDB-69597CE14F82}"/>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Problem Statement</a:t>
            </a:r>
          </a:p>
        </p:txBody>
      </p:sp>
      <p:sp>
        <p:nvSpPr>
          <p:cNvPr id="4" name="TextShape 2">
            <a:extLst>
              <a:ext uri="{FF2B5EF4-FFF2-40B4-BE49-F238E27FC236}">
                <a16:creationId xmlns:a16="http://schemas.microsoft.com/office/drawing/2014/main" id="{138ADD73-D89B-3676-165C-BEBADC55BAE8}"/>
              </a:ext>
            </a:extLst>
          </p:cNvPr>
          <p:cNvSpPr txBox="1"/>
          <p:nvPr/>
        </p:nvSpPr>
        <p:spPr>
          <a:xfrm>
            <a:off x="435966" y="1271974"/>
            <a:ext cx="7524818" cy="5281226"/>
          </a:xfrm>
          <a:prstGeom prst="rect">
            <a:avLst/>
          </a:prstGeom>
          <a:noFill/>
          <a:ln w="9360">
            <a:noFill/>
          </a:ln>
        </p:spPr>
        <p:txBody>
          <a:bodyPr>
            <a:noAutofit/>
          </a:bodyPr>
          <a:lstStyle/>
          <a:p>
            <a:pPr>
              <a:lnSpc>
                <a:spcPct val="150000"/>
              </a:lnSpc>
              <a:spcBef>
                <a:spcPts val="400"/>
              </a:spcBef>
            </a:pPr>
            <a:r>
              <a:rPr lang="en-US" sz="2500" spc="-1" dirty="0">
                <a:solidFill>
                  <a:srgbClr val="000000"/>
                </a:solidFill>
                <a:latin typeface="Times New Roman" panose="02020603050405020304" pitchFamily="18" charset="0"/>
                <a:cs typeface="Times New Roman" panose="02020603050405020304" pitchFamily="18" charset="0"/>
              </a:rPr>
              <a:t>Fake news has a serious impact on politics, the economy, and society as a whole. It is extremely difficult to manually verify the massive amount of information generated every day. Misleading and false content spreads rapidly across digital platforms, causing confusion and misinformation. Hence, there is a strong need for an accurate and automated system to detect and prevent the spread of fake news.</a:t>
            </a:r>
          </a:p>
          <a:p>
            <a:pPr>
              <a:lnSpc>
                <a:spcPct val="150000"/>
              </a:lnSpc>
              <a:spcBef>
                <a:spcPts val="400"/>
              </a:spcBef>
            </a:pPr>
            <a:endParaRPr lang="en-US" sz="25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824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54198-BBD1-3329-6479-437DB14C7B8D}"/>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4" name="TextShape 2">
            <a:extLst>
              <a:ext uri="{FF2B5EF4-FFF2-40B4-BE49-F238E27FC236}">
                <a16:creationId xmlns:a16="http://schemas.microsoft.com/office/drawing/2014/main" id="{ABFF8F82-7A1F-9400-95E6-BB11D73726B6}"/>
              </a:ext>
            </a:extLst>
          </p:cNvPr>
          <p:cNvSpPr txBox="1"/>
          <p:nvPr/>
        </p:nvSpPr>
        <p:spPr>
          <a:xfrm>
            <a:off x="524456" y="1183484"/>
            <a:ext cx="7524818" cy="5281226"/>
          </a:xfrm>
          <a:prstGeom prst="rect">
            <a:avLst/>
          </a:prstGeom>
          <a:noFill/>
          <a:ln w="9360">
            <a:noFill/>
          </a:ln>
        </p:spPr>
        <p:txBody>
          <a:bodyPr>
            <a:noAutofit/>
          </a:bodyPr>
          <a:lstStyle/>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To develop a Machine Learning-based fake news classification system</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To apply Natural Language Processing (NLP) techniques for text preprocessing and analysis</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To compare the performance of multiple Machine Learning algorithms</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To achieve high accuracy, efficiency, and reliability in fake news detection</a:t>
            </a:r>
          </a:p>
        </p:txBody>
      </p:sp>
    </p:spTree>
    <p:extLst>
      <p:ext uri="{BB962C8B-B14F-4D97-AF65-F5344CB8AC3E}">
        <p14:creationId xmlns:p14="http://schemas.microsoft.com/office/powerpoint/2010/main" val="300140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04E0-7229-E1CB-F95E-40BB9DA8194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Literature Review</a:t>
            </a:r>
          </a:p>
        </p:txBody>
      </p:sp>
      <p:sp>
        <p:nvSpPr>
          <p:cNvPr id="4" name="TextShape 2">
            <a:extLst>
              <a:ext uri="{FF2B5EF4-FFF2-40B4-BE49-F238E27FC236}">
                <a16:creationId xmlns:a16="http://schemas.microsoft.com/office/drawing/2014/main" id="{8B9D503B-1359-BCD6-FC30-1C34E5A5DCED}"/>
              </a:ext>
            </a:extLst>
          </p:cNvPr>
          <p:cNvSpPr txBox="1"/>
          <p:nvPr/>
        </p:nvSpPr>
        <p:spPr>
          <a:xfrm>
            <a:off x="399879" y="1222813"/>
            <a:ext cx="8344241" cy="5281226"/>
          </a:xfrm>
          <a:prstGeom prst="rect">
            <a:avLst/>
          </a:prstGeom>
          <a:noFill/>
          <a:ln w="9360">
            <a:noFill/>
          </a:ln>
        </p:spPr>
        <p:txBody>
          <a:bodyPr>
            <a:noAutofit/>
          </a:bodyPr>
          <a:lstStyle/>
          <a:p>
            <a:pPr>
              <a:lnSpc>
                <a:spcPct val="150000"/>
              </a:lnSpc>
              <a:spcBef>
                <a:spcPts val="400"/>
              </a:spcBef>
            </a:pPr>
            <a:r>
              <a:rPr lang="en-US" sz="2500" spc="-1" dirty="0">
                <a:solidFill>
                  <a:srgbClr val="000000"/>
                </a:solidFill>
                <a:latin typeface="Times New Roman" panose="02020603050405020304" pitchFamily="18" charset="0"/>
                <a:cs typeface="Times New Roman" panose="02020603050405020304" pitchFamily="18" charset="0"/>
              </a:rPr>
              <a:t>Various research studies have explored different techniques for fake news detection. Naive Bayes is widely used for basic classification tasks due to its simplicity and efficiency. Logistic Regression has shown strong performance in binary classification problems. Advanced Deep Learning models such as LSTM and CNN have significantly improved detection accuracy. Some research works have reported accuracy levels of up to 95%, highlighting the effectiveness of Machine Learning approaches in identifying fake news.</a:t>
            </a:r>
          </a:p>
        </p:txBody>
      </p:sp>
    </p:spTree>
    <p:extLst>
      <p:ext uri="{BB962C8B-B14F-4D97-AF65-F5344CB8AC3E}">
        <p14:creationId xmlns:p14="http://schemas.microsoft.com/office/powerpoint/2010/main" val="410841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4EF6-5CCB-A262-E43A-A82DFA11704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Methodology</a:t>
            </a:r>
          </a:p>
        </p:txBody>
      </p:sp>
      <p:sp>
        <p:nvSpPr>
          <p:cNvPr id="3" name="TextShape 2">
            <a:extLst>
              <a:ext uri="{FF2B5EF4-FFF2-40B4-BE49-F238E27FC236}">
                <a16:creationId xmlns:a16="http://schemas.microsoft.com/office/drawing/2014/main" id="{FAFF7AC9-CAE9-7455-1CD3-54E698F1A70E}"/>
              </a:ext>
            </a:extLst>
          </p:cNvPr>
          <p:cNvSpPr txBox="1"/>
          <p:nvPr/>
        </p:nvSpPr>
        <p:spPr>
          <a:xfrm>
            <a:off x="342507" y="1101212"/>
            <a:ext cx="8458985" cy="5427407"/>
          </a:xfrm>
          <a:prstGeom prst="rect">
            <a:avLst/>
          </a:prstGeom>
          <a:noFill/>
          <a:ln w="9360">
            <a:noFill/>
          </a:ln>
        </p:spPr>
        <p:txBody>
          <a:bodyPr>
            <a:noAutofit/>
          </a:bodyPr>
          <a:lstStyle/>
          <a:p>
            <a:pPr>
              <a:lnSpc>
                <a:spcPct val="150000"/>
              </a:lnSpc>
              <a:spcBef>
                <a:spcPts val="400"/>
              </a:spcBef>
            </a:pPr>
            <a:r>
              <a:rPr lang="en-US" spc="-1" dirty="0">
                <a:solidFill>
                  <a:srgbClr val="000000"/>
                </a:solidFill>
                <a:latin typeface="Times New Roman" panose="02020603050405020304" pitchFamily="18" charset="0"/>
                <a:cs typeface="Times New Roman" panose="02020603050405020304" pitchFamily="18" charset="0"/>
              </a:rPr>
              <a:t>The proposed system follows a structured approach for detecting fake news using Machine Learning techniques.</a:t>
            </a:r>
          </a:p>
          <a:p>
            <a:pPr marL="342900" indent="-342900">
              <a:lnSpc>
                <a:spcPct val="150000"/>
              </a:lnSpc>
              <a:spcBef>
                <a:spcPts val="400"/>
              </a:spcBef>
              <a:buFont typeface="Arial" panose="020B0604020202020204" pitchFamily="34" charset="0"/>
              <a:buChar char="•"/>
            </a:pPr>
            <a:r>
              <a:rPr lang="en-US" spc="-1" dirty="0">
                <a:solidFill>
                  <a:srgbClr val="000000"/>
                </a:solidFill>
                <a:latin typeface="Times New Roman" panose="02020603050405020304" pitchFamily="18" charset="0"/>
                <a:cs typeface="Times New Roman" panose="02020603050405020304" pitchFamily="18" charset="0"/>
              </a:rPr>
              <a:t>Data Collection: Labeled datasets containing real and fake news articles are collected from reliable sources.</a:t>
            </a:r>
          </a:p>
          <a:p>
            <a:pPr marL="342900" indent="-342900">
              <a:lnSpc>
                <a:spcPct val="150000"/>
              </a:lnSpc>
              <a:spcBef>
                <a:spcPts val="400"/>
              </a:spcBef>
              <a:buFont typeface="Arial" panose="020B0604020202020204" pitchFamily="34" charset="0"/>
              <a:buChar char="•"/>
            </a:pPr>
            <a:r>
              <a:rPr lang="en-US" spc="-1" dirty="0">
                <a:solidFill>
                  <a:srgbClr val="000000"/>
                </a:solidFill>
                <a:latin typeface="Times New Roman" panose="02020603050405020304" pitchFamily="18" charset="0"/>
                <a:cs typeface="Times New Roman" panose="02020603050405020304" pitchFamily="18" charset="0"/>
              </a:rPr>
              <a:t>Data Cleaning: Unnecessary elements such as </a:t>
            </a:r>
            <a:r>
              <a:rPr lang="en-US" spc="-1" dirty="0" err="1">
                <a:solidFill>
                  <a:srgbClr val="000000"/>
                </a:solidFill>
                <a:latin typeface="Times New Roman" panose="02020603050405020304" pitchFamily="18" charset="0"/>
                <a:cs typeface="Times New Roman" panose="02020603050405020304" pitchFamily="18" charset="0"/>
              </a:rPr>
              <a:t>stopwords</a:t>
            </a:r>
            <a:r>
              <a:rPr lang="en-US" spc="-1" dirty="0">
                <a:solidFill>
                  <a:srgbClr val="000000"/>
                </a:solidFill>
                <a:latin typeface="Times New Roman" panose="02020603050405020304" pitchFamily="18" charset="0"/>
                <a:cs typeface="Times New Roman" panose="02020603050405020304" pitchFamily="18" charset="0"/>
              </a:rPr>
              <a:t>, punctuation, and special characters are removed to improve data quality.</a:t>
            </a:r>
          </a:p>
          <a:p>
            <a:pPr marL="342900" indent="-342900">
              <a:lnSpc>
                <a:spcPct val="150000"/>
              </a:lnSpc>
              <a:spcBef>
                <a:spcPts val="400"/>
              </a:spcBef>
              <a:buFont typeface="Arial" panose="020B0604020202020204" pitchFamily="34" charset="0"/>
              <a:buChar char="•"/>
            </a:pPr>
            <a:r>
              <a:rPr lang="en-US" spc="-1" dirty="0">
                <a:solidFill>
                  <a:srgbClr val="000000"/>
                </a:solidFill>
                <a:latin typeface="Times New Roman" panose="02020603050405020304" pitchFamily="18" charset="0"/>
                <a:cs typeface="Times New Roman" panose="02020603050405020304" pitchFamily="18" charset="0"/>
              </a:rPr>
              <a:t>Text Preprocessing: Tokenization and text normalization are performed to convert text into a structured format suitable for analysis.</a:t>
            </a:r>
          </a:p>
          <a:p>
            <a:pPr marL="342900" indent="-342900">
              <a:lnSpc>
                <a:spcPct val="150000"/>
              </a:lnSpc>
              <a:spcBef>
                <a:spcPts val="400"/>
              </a:spcBef>
              <a:buFont typeface="Arial" panose="020B0604020202020204" pitchFamily="34" charset="0"/>
              <a:buChar char="•"/>
            </a:pPr>
            <a:r>
              <a:rPr lang="en-US" spc="-1" dirty="0">
                <a:solidFill>
                  <a:srgbClr val="000000"/>
                </a:solidFill>
                <a:latin typeface="Times New Roman" panose="02020603050405020304" pitchFamily="18" charset="0"/>
                <a:cs typeface="Times New Roman" panose="02020603050405020304" pitchFamily="18" charset="0"/>
              </a:rPr>
              <a:t>Feature Extraction: TF-IDF (Term Frequency–Inverse Document Frequency) is used to transform textual data into numerical feature vectors.</a:t>
            </a:r>
          </a:p>
          <a:p>
            <a:pPr marL="342900" indent="-342900">
              <a:lnSpc>
                <a:spcPct val="150000"/>
              </a:lnSpc>
              <a:spcBef>
                <a:spcPts val="400"/>
              </a:spcBef>
              <a:buFont typeface="Arial" panose="020B0604020202020204" pitchFamily="34" charset="0"/>
              <a:buChar char="•"/>
            </a:pPr>
            <a:r>
              <a:rPr lang="en-US" spc="-1" dirty="0">
                <a:solidFill>
                  <a:srgbClr val="000000"/>
                </a:solidFill>
                <a:latin typeface="Times New Roman" panose="02020603050405020304" pitchFamily="18" charset="0"/>
                <a:cs typeface="Times New Roman" panose="02020603050405020304" pitchFamily="18" charset="0"/>
              </a:rPr>
              <a:t>Model Evaluation: The dataset is divided into training and testing sets (train-test split) to evaluate model performance effectively.</a:t>
            </a:r>
          </a:p>
        </p:txBody>
      </p:sp>
    </p:spTree>
    <p:extLst>
      <p:ext uri="{BB962C8B-B14F-4D97-AF65-F5344CB8AC3E}">
        <p14:creationId xmlns:p14="http://schemas.microsoft.com/office/powerpoint/2010/main" val="3057352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5CD63-5677-222C-911D-02F390E2CE4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Results &amp; Evaluation</a:t>
            </a:r>
          </a:p>
        </p:txBody>
      </p:sp>
      <p:sp>
        <p:nvSpPr>
          <p:cNvPr id="3" name="TextShape 2">
            <a:extLst>
              <a:ext uri="{FF2B5EF4-FFF2-40B4-BE49-F238E27FC236}">
                <a16:creationId xmlns:a16="http://schemas.microsoft.com/office/drawing/2014/main" id="{D327A001-84C9-86D1-442C-CA4FE81B03A4}"/>
              </a:ext>
            </a:extLst>
          </p:cNvPr>
          <p:cNvSpPr txBox="1"/>
          <p:nvPr/>
        </p:nvSpPr>
        <p:spPr>
          <a:xfrm>
            <a:off x="399879" y="1222813"/>
            <a:ext cx="8344241" cy="5281226"/>
          </a:xfrm>
          <a:prstGeom prst="rect">
            <a:avLst/>
          </a:prstGeom>
          <a:noFill/>
          <a:ln w="9360">
            <a:noFill/>
          </a:ln>
        </p:spPr>
        <p:txBody>
          <a:bodyPr>
            <a:noAutofit/>
          </a:bodyPr>
          <a:lstStyle/>
          <a:p>
            <a:pPr marL="342900" indent="-342900">
              <a:lnSpc>
                <a:spcPct val="15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Performance Metrics: The models are evaluated using key metrics such as Accuracy, Precision, Recall, and F1-score to measure overall performance and reliability.</a:t>
            </a:r>
          </a:p>
          <a:p>
            <a:pPr marL="342900" indent="-342900">
              <a:lnSpc>
                <a:spcPct val="15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ROC Curve Analysis: Receiver Operating Characteristic (ROC) curves are used to compare different models and analyze their classification capability.</a:t>
            </a:r>
          </a:p>
          <a:p>
            <a:pPr marL="342900" indent="-342900">
              <a:lnSpc>
                <a:spcPct val="15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Model Selection: The best-performing model is selected based on the highest accuracy along with balanced precision and recall.</a:t>
            </a:r>
          </a:p>
          <a:p>
            <a:pPr marL="342900" indent="-342900">
              <a:lnSpc>
                <a:spcPct val="150000"/>
              </a:lnSpc>
              <a:spcBef>
                <a:spcPts val="400"/>
              </a:spcBef>
              <a:buFont typeface="Arial" panose="020B0604020202020204" pitchFamily="34" charset="0"/>
              <a:buChar char="•"/>
            </a:pPr>
            <a:r>
              <a:rPr lang="en-US" sz="2000" spc="-1" dirty="0">
                <a:solidFill>
                  <a:srgbClr val="000000"/>
                </a:solidFill>
                <a:latin typeface="Times New Roman" panose="02020603050405020304" pitchFamily="18" charset="0"/>
                <a:cs typeface="Times New Roman" panose="02020603050405020304" pitchFamily="18" charset="0"/>
              </a:rPr>
              <a:t>Outcome: Experimental results indicate that the Machine Learning models demonstrate strong performance in accurately detecting fake news, making them effective for real-world applications.</a:t>
            </a:r>
          </a:p>
        </p:txBody>
      </p:sp>
    </p:spTree>
    <p:extLst>
      <p:ext uri="{BB962C8B-B14F-4D97-AF65-F5344CB8AC3E}">
        <p14:creationId xmlns:p14="http://schemas.microsoft.com/office/powerpoint/2010/main" val="1284919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6FECC-3954-EABF-A50B-C8D4227AD876}"/>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3" name="TextShape 2">
            <a:extLst>
              <a:ext uri="{FF2B5EF4-FFF2-40B4-BE49-F238E27FC236}">
                <a16:creationId xmlns:a16="http://schemas.microsoft.com/office/drawing/2014/main" id="{53003FF0-A3C6-41B8-DAE2-05D6E13BCD09}"/>
              </a:ext>
            </a:extLst>
          </p:cNvPr>
          <p:cNvSpPr txBox="1"/>
          <p:nvPr/>
        </p:nvSpPr>
        <p:spPr>
          <a:xfrm>
            <a:off x="399879" y="1576774"/>
            <a:ext cx="8344241" cy="4538891"/>
          </a:xfrm>
          <a:prstGeom prst="rect">
            <a:avLst/>
          </a:prstGeom>
          <a:noFill/>
          <a:ln w="9360">
            <a:noFill/>
          </a:ln>
        </p:spPr>
        <p:txBody>
          <a:bodyPr>
            <a:noAutofit/>
          </a:bodyPr>
          <a:lstStyle/>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Implementation of advanced Deep Learning models such as BERT and LSTM for improved accuracy</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Development of real-time fake news detection systems</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Integration with social media platforms for instant verification</a:t>
            </a:r>
          </a:p>
          <a:p>
            <a:pPr marL="342900" indent="-342900">
              <a:lnSpc>
                <a:spcPct val="150000"/>
              </a:lnSpc>
              <a:spcBef>
                <a:spcPts val="400"/>
              </a:spcBef>
              <a:buFont typeface="Arial" panose="020B0604020202020204" pitchFamily="34" charset="0"/>
              <a:buChar char="•"/>
            </a:pPr>
            <a:r>
              <a:rPr lang="en-US" sz="2500" spc="-1" dirty="0">
                <a:solidFill>
                  <a:srgbClr val="000000"/>
                </a:solidFill>
                <a:latin typeface="Times New Roman" panose="02020603050405020304" pitchFamily="18" charset="0"/>
                <a:cs typeface="Times New Roman" panose="02020603050405020304" pitchFamily="18" charset="0"/>
              </a:rPr>
              <a:t>Expansion to multilingual datasets for broader applicability</a:t>
            </a:r>
          </a:p>
        </p:txBody>
      </p:sp>
    </p:spTree>
    <p:extLst>
      <p:ext uri="{BB962C8B-B14F-4D97-AF65-F5344CB8AC3E}">
        <p14:creationId xmlns:p14="http://schemas.microsoft.com/office/powerpoint/2010/main" val="165438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50147-878B-D6C8-7B09-F1F169AE1E7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Shape 2">
            <a:extLst>
              <a:ext uri="{FF2B5EF4-FFF2-40B4-BE49-F238E27FC236}">
                <a16:creationId xmlns:a16="http://schemas.microsoft.com/office/drawing/2014/main" id="{60B9BCE8-B10C-B176-7206-D73C51DD2572}"/>
              </a:ext>
            </a:extLst>
          </p:cNvPr>
          <p:cNvSpPr txBox="1"/>
          <p:nvPr/>
        </p:nvSpPr>
        <p:spPr>
          <a:xfrm>
            <a:off x="517867" y="1576774"/>
            <a:ext cx="8055862" cy="4873187"/>
          </a:xfrm>
          <a:prstGeom prst="rect">
            <a:avLst/>
          </a:prstGeom>
          <a:noFill/>
          <a:ln w="9360">
            <a:noFill/>
          </a:ln>
        </p:spPr>
        <p:txBody>
          <a:bodyPr>
            <a:noAutofit/>
          </a:bodyPr>
          <a:lstStyle/>
          <a:p>
            <a:pPr>
              <a:lnSpc>
                <a:spcPct val="150000"/>
              </a:lnSpc>
              <a:spcBef>
                <a:spcPts val="400"/>
              </a:spcBef>
            </a:pPr>
            <a:r>
              <a:rPr lang="en-US" sz="2500" spc="-1" dirty="0">
                <a:solidFill>
                  <a:srgbClr val="000000"/>
                </a:solidFill>
                <a:latin typeface="Times New Roman" panose="02020603050405020304" pitchFamily="18" charset="0"/>
                <a:cs typeface="Times New Roman" panose="02020603050405020304" pitchFamily="18" charset="0"/>
              </a:rPr>
              <a:t>Machine Learning models have proven to be effective in detecting fake news with high accuracy and reliability. By analyzing textual patterns and features, these models can efficiently classify news as real or fake. This system helps in reducing the spread of misinformation across digital platforms and supports better decision-making among users.</a:t>
            </a:r>
          </a:p>
        </p:txBody>
      </p:sp>
    </p:spTree>
    <p:extLst>
      <p:ext uri="{BB962C8B-B14F-4D97-AF65-F5344CB8AC3E}">
        <p14:creationId xmlns:p14="http://schemas.microsoft.com/office/powerpoint/2010/main" val="2893468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34756</TotalTime>
  <Words>663</Words>
  <Application>Microsoft Office PowerPoint</Application>
  <PresentationFormat>On-screen Show (4:3)</PresentationFormat>
  <Paragraphs>46</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Problem Statement</vt:lpstr>
      <vt:lpstr>Objectives</vt:lpstr>
      <vt:lpstr>Literature Review</vt:lpstr>
      <vt:lpstr>Methodology</vt:lpstr>
      <vt:lpstr>Results &amp; Evaluation</vt:lpstr>
      <vt:lpstr>Future Scope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Sahil Sharma</cp:lastModifiedBy>
  <cp:revision>2299</cp:revision>
  <dcterms:created xsi:type="dcterms:W3CDTF">2010-04-09T07:36:15Z</dcterms:created>
  <dcterms:modified xsi:type="dcterms:W3CDTF">2026-04-28T18:05:41Z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